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Слова спикера (1-й слайд, ~30 сек):</a:t>
            </a:r>
          </a:p>
          <a:p>
            <a:r>
              <a:t>«Добрый день, уважаемые эксперты и жюри! Меня зовут [Ваше Имя], и сегодня я представляю проект MDRN 3D.</a:t>
            </a:r>
          </a:p>
          <a:p>
            <a:r>
              <a:t>Мы создаем распределенную фабрику аддитивного производства — по сути, Uber для 3D-печати. Сегодня сотни тысяч 3D-принтеров стоят без дела в квартирах и мастерских, в то время как бизнесу и людям нужны запчасти, прототипы и корпуса быстро и без лишней бюрократии.</a:t>
            </a:r>
          </a:p>
          <a:p>
            <a:r>
              <a:t>MDRN 3D объединяет клиентов, мейкеров и 3D-дизайнеров на единой платформе с мгновенным 3D-расчетом и 100% Escrow-гарантией. Проект — это не просто презентация на бумаге: наш рабочий MVP уже развернут и доступен онлайн!»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Слова спикера (2-й слайд, ~45 сек):</a:t>
            </a:r>
          </a:p>
          <a:p>
            <a:r>
              <a:t>«Почему рынок аддитивного производства до сих пор не стал массовым? Потому что он сломан для всех трех участников.</a:t>
            </a:r>
          </a:p>
          <a:p>
            <a:r>
              <a:t>Во-первых, обычные клиенты и компании: если вам нужен прототип детали или сломанная шестеренка, купить принтер — дорого и сложно. Обратиться в профессиональную студию — это 2 дня переписки, космические минимальные чеки и скрытые наценки.</a:t>
            </a:r>
          </a:p>
          <a:p>
            <a:r>
              <a:t>Во-вторых, сами владельцы принтеров: более 70% времени домашние и полупрофессиональные принтеры просто собирают пыль. У мейкеров нет удобного сервиса для получения заказов с безопасной оплатой.</a:t>
            </a:r>
          </a:p>
          <a:p>
            <a:r>
              <a:t>И в-третьих, дизайнеры: они выкладывают свои 3D-модели в сеть, их скачивают тысячи раз, но автор не зарабатывает с физических тиражей.</a:t>
            </a:r>
          </a:p>
          <a:p>
            <a:r>
              <a:t>Мы устраняем этот хаос с помощью MDRN 3D.»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Слова спикера (3-й слайд, ~45 сек):</a:t>
            </a:r>
          </a:p>
          <a:p>
            <a:r>
              <a:t>«Наше решение — это сквозная цифровая платформа MDRN 3D, автоматизирующая весь процесс от чертежа до готовой детали.</a:t>
            </a:r>
          </a:p>
          <a:p>
            <a:r>
              <a:t>Как это работает:</a:t>
            </a:r>
          </a:p>
          <a:p>
            <a:r>
              <a:t>Шаг 1. Клиент заходит на сайт и перетаскивает STL-файл. Наш встроенный WebGL-калькулятор за секунды строит 3D-модель, считает точные габариты, вес и расход пластика.</a:t>
            </a:r>
          </a:p>
          <a:p>
            <a:r>
              <a:t>Шаг 2. Заявка отправляется на биржу. Мейкеры видят заказ и соревнуются в открытом аукционе: клиент выбирает лучшее предложение по цене, сроку или модели принтера (например, высокоскоростной Bambu Lab).</a:t>
            </a:r>
          </a:p>
          <a:p>
            <a:r>
              <a:t>Шаг 3. Безопасность через Escrow: средства клиента замораживаются. Мастер печатает деталь, загружает фотоконтроль и вес, и только после проверки и доставки получает выплату.</a:t>
            </a:r>
          </a:p>
          <a:p>
            <a:r>
              <a:t>Кроме того, в платформу встроен маркетплейс моделей: дизайнеры получают гарантированный процент за каждый физический принт!»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Слова спикера (4-й слайд, ~40 сек):</a:t>
            </a:r>
          </a:p>
          <a:p>
            <a:r>
              <a:t>«Поговорим о рынке. Аддитивное производство переживает взрывной рост — более 22% CAGR в год. К 2030 году мировой объем превысит 50 миллиардов долларов. В России и странах СНГ рынок оценивается более чем в 45 миллиардов рублей.</a:t>
            </a:r>
          </a:p>
          <a:p>
            <a:r>
              <a:t>Почему сейчас идеальное время для запуска MDRN 3D?</a:t>
            </a:r>
          </a:p>
          <a:p>
            <a:r>
              <a:t>1. Импортозамещение: бизнесу и сервисам прямо сейчас нужны шестерни, клипсы, переходники и корпуса, которые раньше возили из Европы и Китая.</a:t>
            </a:r>
          </a:p>
          <a:p>
            <a:r>
              <a:t>2. Смена поколений принтеров: за последние 2 года печать стала быстрой и промышленно точной.</a:t>
            </a:r>
          </a:p>
          <a:p>
            <a:r>
              <a:t>3. Мы не строим огромные централизованные заводы — мы объединяем существующие принтеры в распределенную сеть, приближая производство к потребителю!»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Слова спикера (5-й слайд, ~45 сек):</a:t>
            </a:r>
          </a:p>
          <a:p>
            <a:r>
              <a:t>«Как устроена наша бизнес-модель? Мы работаем по проверенной модели маркетплейса с нулевыми капитальными затратами на станки.</a:t>
            </a:r>
          </a:p>
          <a:p>
            <a:r>
              <a:t>Главный источник монетизации — комиссия (Take Rate) 15–20% с каждого выполненного заказа. Также мы получаем 10% с роялти дизайнеров и вводим подписку для профессиональных ферм печати.</a:t>
            </a:r>
          </a:p>
          <a:p>
            <a:r>
              <a:t>Взгляните на юнит-экономику:</a:t>
            </a:r>
          </a:p>
          <a:p>
            <a:r>
              <a:t>При среднем чеке в 1 800 рублей платформа зарабатывает 300 рублей с заказа. B2B-клиенты и инженеры заказывают детали регулярно — средний LTV составляет 2 100 рублей при CAC около 450 рублей. Соотношение LTV к CAC превышает 4.6x, что демонстрирует сильную и масштабируемую экономику даже на раннем этапе!»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Слова спикера (6-й слайд, финальный питч ~45 сек):</a:t>
            </a:r>
          </a:p>
          <a:p>
            <a:r>
              <a:t>«Подведем итог. Мы приходим на конкурс не с идеей, а с готовым продуктом. Платформа MDRN 3D развернута, протестирована и доступна по адресу mdrn-3d.vercel.app.</a:t>
            </a:r>
          </a:p>
          <a:p>
            <a:r>
              <a:t>В течение следующих 12 месяцев мы планируем масштабировать сеть до 500 узлов печати в крупнейших городах, запустить B2B-кабинет и интеграции со службами быстрой доставки.</a:t>
            </a:r>
          </a:p>
          <a:p>
            <a:r>
              <a:t>Для этого мы привлекаем 3.5 миллиона рублей инвестиций или грантового финансирования, которые будут направлены на маркетинг, привлечение клиентов и расширение базы мейкеров.</a:t>
            </a:r>
          </a:p>
          <a:p>
            <a:r>
              <a:t>Приглашаю протестировать наш сервис прямо сейчас со своих смартфонов. Спасибо за внимание! Готов ответить на все ваши вопросы!»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4630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PITCH DECK  //  СТАРТАП-ЧЕМПИОНАТ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8FAFC"/>
                </a:solidFill>
                <a:latin typeface="Segoe UI"/>
              </a:defRPr>
            </a:pPr>
            <a:r>
              <a:t>MDRN 3D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6B6D4"/>
                </a:solidFill>
                <a:latin typeface="Segoe UI"/>
              </a:defRPr>
            </a:pPr>
            <a:r>
              <a:t>Распределенная фабрика 3D-печати по требованию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10728655" cy="1005840"/>
          </a:xfrm>
          <a:prstGeom prst="roundRect">
            <a:avLst/>
          </a:prstGeom>
          <a:solidFill>
            <a:srgbClr val="131B2B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 i="1">
                <a:solidFill>
                  <a:srgbClr val="F8FAFC"/>
                </a:solidFill>
                <a:latin typeface="Segoe UI"/>
              </a:defRPr>
            </a:pPr>
            <a:r>
              <a:t>«Uber для 3D-печати: превращаем простаивающие 3D-принтеры по всей стране в единую умную фабрику. От загрузки 3D-файла до готовой детали у вашей двери за 24 часа без покупки оборудования».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51960"/>
            <a:ext cx="3429000" cy="1691640"/>
          </a:xfrm>
          <a:prstGeom prst="roundRect">
            <a:avLst/>
          </a:prstGeom>
          <a:solidFill>
            <a:srgbClr val="0F1623"/>
          </a:solidFill>
          <a:ln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389120"/>
            <a:ext cx="5486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306324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РАБОТАЮЩИЙ ПРОДУКТ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mdrn-3d.vercel.app уже в проде. Браузерный 3D-просмотрщик, биржа мейкеров и Escrow.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4251960"/>
            <a:ext cx="3429000" cy="1691640"/>
          </a:xfrm>
          <a:prstGeom prst="roundRect">
            <a:avLst/>
          </a:prstGeom>
          <a:solidFill>
            <a:srgbClr val="0F1623"/>
          </a:solidFill>
          <a:ln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62856" y="4389120"/>
            <a:ext cx="5486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4526280"/>
            <a:ext cx="306324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ZERO CAPEX МОДЕЛЬ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0 собственных станков. Монетизируем распределенные мощности частных владельцев и ферм.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4251960"/>
            <a:ext cx="3429000" cy="1691640"/>
          </a:xfrm>
          <a:prstGeom prst="roundRect">
            <a:avLst/>
          </a:prstGeom>
          <a:solidFill>
            <a:srgbClr val="0F1623"/>
          </a:solidFill>
          <a:ln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11312" y="4389120"/>
            <a:ext cx="5486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4526280"/>
            <a:ext cx="306324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100% ESCROW-ГАРАНТИЯ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Безопасная сделка: средства замораживаются до QC-фотоконтроля и проверки веса.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MDRN 3D  •  DISTRIBUTED MANUFACTURING NETWORK  •  LIVE DEMO: mdrn-3d.vercel.app  •  СЛАЙД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[ 02 // РЫНОЧНАЯ БОЛЬ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Традиционная 3D-печать сломана для всех сторон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Клиенты теряют дни на согласование, а парки принтеров простаивают без заказов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3108960"/>
          </a:xfrm>
          <a:prstGeom prst="roundRect">
            <a:avLst/>
          </a:prstGeom>
          <a:solidFill>
            <a:srgbClr val="131B2B"/>
          </a:solidFill>
          <a:ln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Segoe UI"/>
              </a:defRPr>
            </a:pPr>
            <a:r>
              <a:t>ДЛЯ КЛИЕНТОВ И БИЗНЕСА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29718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• Порог входа: </a:t>
            </a:r>
            <a:r>
              <a:rPr b="0" sz="1050">
                <a:solidFill>
                  <a:srgbClr val="94A3B8"/>
                </a:solidFill>
              </a:rPr>
              <a:t>Свой надежный принтер стоит от 60 000 ₽ + десятки часов на калибровку и слайсинг.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• Бюрократия студий: </a:t>
            </a:r>
            <a:r>
              <a:rPr b="0" sz="1050">
                <a:solidFill>
                  <a:srgbClr val="94A3B8"/>
                </a:solidFill>
              </a:rPr>
              <a:t>Обычные 3D-студии рассчитывают КП вручную по 24–48 часов с непрозрачной наценкой.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• Риск брака: </a:t>
            </a:r>
            <a:r>
              <a:rPr b="0" sz="1050">
                <a:solidFill>
                  <a:srgbClr val="94A3B8"/>
                </a:solidFill>
              </a:rPr>
              <a:t>При заказе у частников нет никаких гарантий возврата денег при плохом качестве.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920240"/>
            <a:ext cx="3429000" cy="3108960"/>
          </a:xfrm>
          <a:prstGeom prst="roundRect">
            <a:avLst/>
          </a:prstGeom>
          <a:solidFill>
            <a:srgbClr val="131B2B"/>
          </a:solidFill>
          <a:ln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210312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ДЛЯ ВЛАДЕЛЬЦЕВ ПРИНТЕРОВ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514600"/>
            <a:ext cx="29718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• 70%+ простоя: </a:t>
            </a:r>
            <a:r>
              <a:rPr b="0" sz="1050">
                <a:solidFill>
                  <a:srgbClr val="94A3B8"/>
                </a:solidFill>
              </a:rPr>
              <a:t>Оборудование куплено, но простаивает большую часть недели без стабильного потока клиентов.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• Сложный маркетинг: </a:t>
            </a:r>
            <a:r>
              <a:rPr b="0" sz="1050">
                <a:solidFill>
                  <a:srgbClr val="94A3B8"/>
                </a:solidFill>
              </a:rPr>
              <a:t>Частному мейкеру тяжело продвигать себя на Авито и конкурировать со студиями.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• Риск неплатежей: </a:t>
            </a:r>
            <a:r>
              <a:rPr b="0" sz="1050">
                <a:solidFill>
                  <a:srgbClr val="94A3B8"/>
                </a:solidFill>
              </a:rPr>
              <a:t>Клиенты отказываются забирать готовую деталь при постоплате или спорят о цене.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1920240"/>
            <a:ext cx="3429000" cy="3108960"/>
          </a:xfrm>
          <a:prstGeom prst="roundRect">
            <a:avLst/>
          </a:prstGeom>
          <a:solidFill>
            <a:srgbClr val="131B2B"/>
          </a:solidFill>
          <a:ln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2" y="210312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ДЛЯ 3D-ДИЗАЙНЕРОВ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2" y="2514600"/>
            <a:ext cx="29718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• Пиратство моделей: </a:t>
            </a:r>
            <a:r>
              <a:rPr b="0" sz="1050">
                <a:solidFill>
                  <a:srgbClr val="94A3B8"/>
                </a:solidFill>
              </a:rPr>
              <a:t>Созданные качественные STL-файлы моментально утекают в бесплатный доступ.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• Нет роялти: </a:t>
            </a:r>
            <a:r>
              <a:rPr b="0" sz="1050">
                <a:solidFill>
                  <a:srgbClr val="94A3B8"/>
                </a:solidFill>
              </a:rPr>
              <a:t>Дизайнер продает модель один раз за копейки вместо постоянного дохода с каждой копии.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• Оторванность: </a:t>
            </a:r>
            <a:r>
              <a:rPr b="0" sz="1050">
                <a:solidFill>
                  <a:srgbClr val="94A3B8"/>
                </a:solidFill>
              </a:rPr>
              <a:t>Нет прямой связки между цифровым файлом и его физическим изготовлением.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12080"/>
            <a:ext cx="10728655" cy="914400"/>
          </a:xfrm>
          <a:prstGeom prst="roundRect">
            <a:avLst/>
          </a:prstGeom>
          <a:solidFill>
            <a:srgbClr val="0F1623"/>
          </a:solidFill>
          <a:ln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Segoe UI"/>
              </a:defRPr>
            </a:pPr>
            <a:r>
              <a:t>В ИТОГЕ: Клиент переплачивает 300% и ждет неделю, мейкер не зарабатывает, а дизайнер не получает ни рубля с физических изделий. Этот рынок фрагментирован и требует цифровой платформы.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MDRN 3D  •  DISTRIBUTED MANUFACTURING NETWORK  •  LIVE DEMO: mdrn-3d.vercel.app  •  СЛАЙД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[ 03 // РЕШЕНИЕ И ПРОДУКТ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MDRN 3D — Единая технологическая экосистема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Автоматический WebGL-слайсинг, обратный аукцион мастеров и Escrow-безопасность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3108960"/>
          </a:xfrm>
          <a:prstGeom prst="roundRect">
            <a:avLst/>
          </a:prstGeom>
          <a:solidFill>
            <a:srgbClr val="131B2B"/>
          </a:solidFill>
          <a:ln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B6D4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2971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МГНОВЕННЫЙ 3D-КАЛЬКУЛЯТОР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00400"/>
            <a:ext cx="29718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✔ Прямо в браузере за 2 секунды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✔ WebGL / Three.js рендеринг модели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✔ Расчет габаритов, веса и объема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✔ Выбор материала: PLA, PETG, ABS, TPU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920240"/>
            <a:ext cx="3429000" cy="3108960"/>
          </a:xfrm>
          <a:prstGeom prst="roundRect">
            <a:avLst/>
          </a:prstGeom>
          <a:solidFill>
            <a:srgbClr val="131B2B"/>
          </a:solidFill>
          <a:ln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21031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606040"/>
            <a:ext cx="2971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ОБРАТНЫЙ АУКЦИОН МАСТЕРОВ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3200400"/>
            <a:ext cx="29718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✔ Заявка видна проверенным мейкерам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✔ Мастера делают ставки по цене и срокам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✔ Рейтинги, отзывы и модели станков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✔ Экономия клиента до 40% за счет конкуренции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920240"/>
            <a:ext cx="3429000" cy="3108960"/>
          </a:xfrm>
          <a:prstGeom prst="roundRect">
            <a:avLst/>
          </a:prstGeom>
          <a:solidFill>
            <a:srgbClr val="131B2B"/>
          </a:solidFill>
          <a:ln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2" y="21031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2606040"/>
            <a:ext cx="2971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100% ESCROW &amp; ФОТО-QC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3200400"/>
            <a:ext cx="29718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✔ Деньги заморожены до получения детали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✔ Обязательный фотоконтроль (QC)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✔ Взвешивание детали перед отправкой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✔ Трек-номер посылки прямо в терминале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12080"/>
            <a:ext cx="10728655" cy="914400"/>
          </a:xfrm>
          <a:prstGeom prst="roundRect">
            <a:avLst/>
          </a:prstGeom>
          <a:solidFill>
            <a:srgbClr val="0F1623"/>
          </a:solidFill>
          <a:ln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КАТАЛОГ С РОЯЛТИ ДЛЯ ДИЗАЙНЕРОВ: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3D-художники загружают модели на платформу и получают авторский процент (роялти) с КАЖДОГО физически напечатанного изделия. Платформа превращает цифровой арт в пассивный доход.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MDRN 3D  •  DISTRIBUTED MANUFACTURING NETWORK  •  LIVE DEMO: mdrn-3d.vercel.app  •  СЛАЙД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[ 04 // РЫНОК И ВОЗМОЖНОСТИ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Рынок аддитивного производства растет на 22% ежегодно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Импортозамещение деталей и технологический бум создают окно возможностей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2011680"/>
          </a:xfrm>
          <a:prstGeom prst="roundRect">
            <a:avLst/>
          </a:prstGeom>
          <a:solidFill>
            <a:srgbClr val="131B2B"/>
          </a:solidFill>
          <a:ln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9718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TAM • ГЛОБАЛЬНЫЙ</a:t>
            </a:r>
          </a:p>
          <a:p>
            <a:pPr>
              <a:spcBef>
                <a:spcPts val="400"/>
              </a:spcBef>
              <a:defRPr sz="2800" b="1">
                <a:solidFill>
                  <a:srgbClr val="F8FAFC"/>
                </a:solidFill>
                <a:latin typeface="Segoe UI"/>
              </a:defRPr>
            </a:pPr>
            <a:r>
              <a:t>$50.8 МЛРД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Мировой рынок аддитивного производства к 2030 году (CAGR 22.4%, Grand View Research).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920240"/>
            <a:ext cx="3429000" cy="2011680"/>
          </a:xfrm>
          <a:prstGeom prst="roundRect">
            <a:avLst/>
          </a:prstGeom>
          <a:solidFill>
            <a:srgbClr val="131B2B"/>
          </a:solidFill>
          <a:ln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103120"/>
            <a:ext cx="29718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SAM • РФ И СНГ</a:t>
            </a:r>
          </a:p>
          <a:p>
            <a:pPr>
              <a:spcBef>
                <a:spcPts val="400"/>
              </a:spcBef>
              <a:defRPr sz="2800" b="1">
                <a:solidFill>
                  <a:srgbClr val="F8FAFC"/>
                </a:solidFill>
                <a:latin typeface="Segoe UI"/>
              </a:defRPr>
            </a:pPr>
            <a:r>
              <a:t>45 МЛРД ₽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Рынок прототипирования, запчастей, мелкосерийного литья и кастомных изделий.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920240"/>
            <a:ext cx="3429000" cy="2011680"/>
          </a:xfrm>
          <a:prstGeom prst="roundRect">
            <a:avLst/>
          </a:prstGeom>
          <a:solidFill>
            <a:srgbClr val="131B2B"/>
          </a:solidFill>
          <a:ln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2103120"/>
            <a:ext cx="29718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SOM • НАША ЦЕЛЬ 3 ГОДА</a:t>
            </a:r>
          </a:p>
          <a:p>
            <a:pPr>
              <a:spcBef>
                <a:spcPts val="400"/>
              </a:spcBef>
              <a:defRPr sz="2800" b="1">
                <a:solidFill>
                  <a:srgbClr val="F8FAFC"/>
                </a:solidFill>
                <a:latin typeface="Segoe UI"/>
              </a:defRPr>
            </a:pPr>
            <a:r>
              <a:t>3.5 МЛРД ₽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Достижимый объем распределенной печати по требованию для малого бизнеса и физлиц.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3429000" cy="1965960"/>
          </a:xfrm>
          <a:prstGeom prst="roundRect">
            <a:avLst/>
          </a:prstGeom>
          <a:solidFill>
            <a:srgbClr val="0F1623"/>
          </a:solidFill>
          <a:ln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343400"/>
            <a:ext cx="297180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★ ИМПОРТОЗАМЕЩЕНИЕ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Острая потребность в редких запчастях, автокомпонентах и корпусах электроники из-за санкций и разрыва цепочек поставок.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4160520"/>
            <a:ext cx="3429000" cy="1965960"/>
          </a:xfrm>
          <a:prstGeom prst="roundRect">
            <a:avLst/>
          </a:prstGeom>
          <a:solidFill>
            <a:srgbClr val="0F1623"/>
          </a:solidFill>
          <a:ln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4343400"/>
            <a:ext cx="297180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★ РЕВОЛЮЦИЯ СТАНКОВ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Появление скоростных и надежных принтеров нового поколения (Bambu Lab, Creality K1) сделало качественную печать доступной каждому.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4160520"/>
            <a:ext cx="3429000" cy="1965960"/>
          </a:xfrm>
          <a:prstGeom prst="roundRect">
            <a:avLst/>
          </a:prstGeom>
          <a:solidFill>
            <a:srgbClr val="0F1623"/>
          </a:solidFill>
          <a:ln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4343400"/>
            <a:ext cx="297180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★ ЗЕЛЕНАЯ ЛОГИСТИКА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Печать детали в том же районе/городе устраняет межрегиональную логистику, гигантские склады и углеродный след.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MDRN 3D  •  DISTRIBUTED MANUFACTURING NETWORK  •  LIVE DEMO: mdrn-3d.vercel.app  •  СЛАЙД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[ 05 // БИЗНЕС-МОДЕЛЬ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Масштабируемый Take Rate без затрат на оборудование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Высокая валовая маржинальность платформы за счет цифрового посредничества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206240"/>
          </a:xfrm>
          <a:prstGeom prst="roundRect">
            <a:avLst/>
          </a:prstGeom>
          <a:solidFill>
            <a:srgbClr val="131B2B"/>
          </a:solidFill>
          <a:ln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ИСТОЧНИКИ МОНЕТИЗАЦИИ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1. Комиссия платформы (Take Rate): 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15% – 20% с каждой выполненной сделки (за подбор мастера, WebGL-расчет, Escrow и QC-гарантию).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2. Комиссия с авторских роялти: 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10% от суммы выплат 3D-дизайнерам за коммерческое использование их моделей из каталога.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3. PRO-подписка для ферм (SaaS): 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2 990 ₽/мес за приоритет в аукционах, доступ к оптовым B2B-заказам и расширенную аналитику оборудования.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4. B2B Корпоративные контракты: 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Аутсорсинг деталей для автосервисов, клиник и стартапов под ключ с НДС.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1920240"/>
            <a:ext cx="5303520" cy="4206240"/>
          </a:xfrm>
          <a:prstGeom prst="roundRect">
            <a:avLst/>
          </a:prstGeom>
          <a:solidFill>
            <a:srgbClr val="0F1623"/>
          </a:solidFill>
          <a:ln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ЮНИТ-ЭКОНОМИКА ОДНОГО ЗАКАЗА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8FAFC"/>
                </a:solidFill>
              </a:rPr>
              <a:t>Средний чек заказа (AOV): </a:t>
            </a:r>
            <a:r>
              <a:rPr sz="1100" b="1">
                <a:solidFill>
                  <a:srgbClr val="F8FAFC"/>
                </a:solidFill>
              </a:rPr>
              <a:t>1 800 ₽</a:t>
            </a:r>
          </a:p>
          <a:p>
            <a:pPr>
              <a:spcBef>
                <a:spcPts val="800"/>
              </a:spcBef>
            </a:pPr>
            <a:r>
              <a:rPr sz="1100" b="0">
                <a:solidFill>
                  <a:srgbClr val="94A3B8"/>
                </a:solidFill>
              </a:rPr>
              <a:t>Выплата мейкеру (печать + материал): </a:t>
            </a:r>
            <a:r>
              <a:rPr sz="1100" b="1">
                <a:solidFill>
                  <a:srgbClr val="94A3B8"/>
                </a:solidFill>
              </a:rPr>
              <a:t>1 350 ₽ (75%)</a:t>
            </a:r>
          </a:p>
          <a:p>
            <a:pPr>
              <a:spcBef>
                <a:spcPts val="800"/>
              </a:spcBef>
            </a:pPr>
            <a:r>
              <a:rPr sz="1100" b="0">
                <a:solidFill>
                  <a:srgbClr val="94A3B8"/>
                </a:solidFill>
              </a:rPr>
              <a:t>Роялти дизайнеру (модель): </a:t>
            </a:r>
            <a:r>
              <a:rPr sz="1100" b="1">
                <a:solidFill>
                  <a:srgbClr val="94A3B8"/>
                </a:solidFill>
              </a:rPr>
              <a:t>150 ₽ (8%)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8FAFC"/>
                </a:solidFill>
              </a:rPr>
              <a:t>Валовый доход MDRN 3D: </a:t>
            </a:r>
            <a:r>
              <a:rPr sz="1100" b="1">
                <a:solidFill>
                  <a:srgbClr val="10B981"/>
                </a:solidFill>
              </a:rPr>
              <a:t>300 ₽ (~17%)</a:t>
            </a:r>
          </a:p>
          <a:p>
            <a:pPr>
              <a:spcBef>
                <a:spcPts val="800"/>
              </a:spcBef>
            </a:pPr>
            <a:r>
              <a:rPr sz="1100" b="0">
                <a:solidFill>
                  <a:srgbClr val="94A3B8"/>
                </a:solidFill>
              </a:rPr>
              <a:t>Привлечение клиента (CAC): </a:t>
            </a:r>
            <a:r>
              <a:rPr sz="1100" b="1">
                <a:solidFill>
                  <a:srgbClr val="64748B"/>
                </a:solidFill>
              </a:rPr>
              <a:t>450 ₽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8FAFC"/>
                </a:solidFill>
              </a:rPr>
              <a:t>LTV (пожизненная ценность клиента): </a:t>
            </a:r>
            <a:r>
              <a:rPr sz="1100" b="1">
                <a:solidFill>
                  <a:srgbClr val="06B6D4"/>
                </a:solidFill>
              </a:rPr>
              <a:t>2 100 ₽ (7 заказов)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8FAFC"/>
                </a:solidFill>
              </a:rPr>
              <a:t>Соотношение LTV / CAC: </a:t>
            </a:r>
            <a:r>
              <a:rPr sz="1100" b="1">
                <a:solidFill>
                  <a:srgbClr val="F59E0B"/>
                </a:solidFill>
              </a:rPr>
              <a:t>&gt; 4.6x (Отличная рентабельность)</a:t>
            </a:r>
          </a:p>
          <a:p>
            <a:pPr>
              <a:spcBef>
                <a:spcPts val="1400"/>
              </a:spcBef>
              <a:defRPr sz="1100" b="1">
                <a:solidFill>
                  <a:srgbClr val="10B981"/>
                </a:solidFill>
                <a:latin typeface="Segoe UI"/>
              </a:defRPr>
            </a:pPr>
            <a:r>
              <a:t>ПРИ 5 000 ЗАКАЗОВ В МЕСЯЦ: Чистая выручка платформы составит 1.5+ млн ₽/мес при минимальных операционных расходах.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MDRN 3D  •  DISTRIBUTED MANUFACTURING NETWORK  •  LIVE DEMO: mdrn-3d.vercel.app  •  СЛАЙД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[ 06 // ТРЕКШН И ЗАПРОС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Продукт готов к масштабированию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Привлекаем 3.5 млн ₽ инвестиций / гранта для подключения 500+ узлов печати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4206240"/>
          </a:xfrm>
          <a:prstGeom prst="roundRect">
            <a:avLst/>
          </a:prstGeom>
          <a:solidFill>
            <a:srgbClr val="131B2B"/>
          </a:solidFill>
          <a:ln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632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ТЕКУЩИЙ СТАТУС (TRACTION)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F8FAFC"/>
                </a:solidFill>
              </a:rPr>
              <a:t>✔ Рабочий Production: </a:t>
            </a:r>
            <a:r>
              <a:rPr sz="1000">
                <a:solidFill>
                  <a:srgbClr val="94A3B8"/>
                </a:solidFill>
              </a:rPr>
              <a:t>Сервис задеплоен на Vercel (mdrn-3d.vercel.app), подключена БД Neon PostgreSQL.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F8FAFC"/>
                </a:solidFill>
              </a:rPr>
              <a:t>✔ Инженерный 3D-движок: </a:t>
            </a:r>
            <a:r>
              <a:rPr sz="1000">
                <a:solidFill>
                  <a:srgbClr val="94A3B8"/>
                </a:solidFill>
              </a:rPr>
              <a:t>Полноценный Three.js WebGL вьювер с точным расчетом объема и веса.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F8FAFC"/>
                </a:solidFill>
              </a:rPr>
              <a:t>✔ Цикл сделки проверен: </a:t>
            </a:r>
            <a:r>
              <a:rPr sz="1000">
                <a:solidFill>
                  <a:srgbClr val="94A3B8"/>
                </a:solidFill>
              </a:rPr>
              <a:t>Реализована цепочка Заявка → Аукцион → Escrow → QC фотоотчет → Отзыв.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F8FAFC"/>
                </a:solidFill>
              </a:rPr>
              <a:t>✔ Авторизация и роли: </a:t>
            </a:r>
            <a:r>
              <a:rPr sz="1000">
                <a:solidFill>
                  <a:srgbClr val="94A3B8"/>
                </a:solidFill>
              </a:rPr>
              <a:t>Готовая ролевая модель: Клиент, Мейкер, Дизайнер.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920240"/>
            <a:ext cx="3429000" cy="4206240"/>
          </a:xfrm>
          <a:prstGeom prst="roundRect">
            <a:avLst/>
          </a:prstGeom>
          <a:solidFill>
            <a:srgbClr val="0F1623"/>
          </a:solidFill>
          <a:ln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2103120"/>
            <a:ext cx="30632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ПЛАН РАЗВИТИЯ (12 МЕС.)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F8FAFC"/>
                </a:solidFill>
              </a:rPr>
              <a:t>➔ Q1–Q2 2026: Сеть узлов
</a:t>
            </a:r>
            <a:r>
              <a:rPr sz="1000">
                <a:solidFill>
                  <a:srgbClr val="94A3B8"/>
                </a:solidFill>
              </a:rPr>
              <a:t>Подключение 500+ проверенных печатных узлов в 15 городах-миллионниках РФ.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F8FAFC"/>
                </a:solidFill>
              </a:rPr>
              <a:t>➔ Q3 2026: B2B-Кабинет
</a:t>
            </a:r>
            <a:r>
              <a:rPr sz="1000">
                <a:solidFill>
                  <a:srgbClr val="94A3B8"/>
                </a:solidFill>
              </a:rPr>
              <a:t>Интеграция с ЭДО, оплата по безналичному расчету с НДС для юрлиц.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F8FAFC"/>
                </a:solidFill>
              </a:rPr>
              <a:t>➔ Q4 2026: Авто-слайсинг
</a:t>
            </a:r>
            <a:r>
              <a:rPr sz="1000">
                <a:solidFill>
                  <a:srgbClr val="94A3B8"/>
                </a:solidFill>
              </a:rPr>
              <a:t>Облачная нарезка G-code через API и интеграция с курьерскими службами (СДЭК/Яндекс).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F8FAFC"/>
                </a:solidFill>
              </a:rPr>
              <a:t>➔ 2027: AI-верификация
</a:t>
            </a:r>
            <a:r>
              <a:rPr sz="1000">
                <a:solidFill>
                  <a:srgbClr val="94A3B8"/>
                </a:solidFill>
              </a:rPr>
              <a:t>Нейросетевой анализ 3D-файлов на технологичность и печать металлом/фотополимерами.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920240"/>
            <a:ext cx="3429000" cy="4206240"/>
          </a:xfrm>
          <a:prstGeom prst="roundRect">
            <a:avLst/>
          </a:prstGeom>
          <a:solidFill>
            <a:srgbClr val="131B2B"/>
          </a:solidFill>
          <a:ln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2103120"/>
            <a:ext cx="30632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НАШ ЗАПРОС (THE ASK)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F8FAFC"/>
                </a:solidFill>
              </a:rPr>
              <a:t>ИНВЕСТИЦИИ / ГРАНТ:
</a:t>
            </a:r>
            <a:r>
              <a:rPr sz="1000">
                <a:solidFill>
                  <a:srgbClr val="F59E0B"/>
                </a:solidFill>
              </a:rPr>
              <a:t>3 500 000 ₽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F8FAFC"/>
                </a:solidFill>
              </a:rPr>
              <a:t>Распределение:
</a:t>
            </a:r>
            <a:r>
              <a:rPr sz="1000">
                <a:solidFill>
                  <a:srgbClr val="94A3B8"/>
                </a:solidFill>
              </a:rPr>
              <a:t>• 50% — Привлечение клиентов и B2B
• 30% — Разработка API и интеграций
• 20% — Верификация мейкеров и QC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F8FAFC"/>
                </a:solidFill>
              </a:rPr>
              <a:t>ЧТО ИЩЕМ ЕЩЕ:
</a:t>
            </a:r>
            <a:r>
              <a:rPr sz="1000">
                <a:solidFill>
                  <a:srgbClr val="F8FAFC"/>
                </a:solidFill>
              </a:rPr>
              <a:t>Партнерства с производителями филамента (REC, BestFilament) и службами экспресс-доставки.</a:t>
            </a:r>
          </a:p>
          <a:p>
            <a:pPr>
              <a:spcBef>
                <a:spcPts val="1600"/>
              </a:spcBef>
              <a:defRPr sz="1050" b="1">
                <a:solidFill>
                  <a:srgbClr val="06B6D4"/>
                </a:solidFill>
                <a:latin typeface="Segoe UI"/>
              </a:defRPr>
            </a:pPr>
            <a:r>
              <a:t>ДЕМО: mdrn-3d.vercel.app</a:t>
            </a:r>
            <a:br/>
            <a:r>
              <a:t>GitHub: github.com/Alex64web/mdrn-3d</a:t>
            </a:r>
            <a:br/>
            <a:r>
              <a:t>Готовы к ответам на вопросы!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MDRN 3D  •  DISTRIBUTED MANUFACTURING NETWORK  •  LIVE DEMO: mdrn-3d.vercel.app  •  СЛАЙД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